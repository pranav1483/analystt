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02920"/>
            <a:ext cx="1078992" cy="1078992"/>
          </a:xfrm>
          <a:prstGeom prst="ellipse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1463040"/>
            <a:ext cx="1078992" cy="1078992"/>
          </a:xfrm>
          <a:prstGeom prst="ellipse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4846320"/>
            <a:ext cx="1078992" cy="1078992"/>
          </a:xfrm>
          <a:prstGeom prst="ellipse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7543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REDESIGNING</a:t>
            </a:r>
            <a:br/>
            <a:r>
              <a:t>LONG-FORM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EEEF2"/>
                </a:solidFill>
                <a:latin typeface="Aptos"/>
              </a:defRPr>
            </a:pPr>
            <a:r>
              <a:t>From Passive Pre-Learning to Practical Offline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977639"/>
            <a:ext cx="1417320" cy="411480"/>
          </a:xfrm>
          <a:prstGeom prst="round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078223"/>
            <a:ext cx="1417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TEACCH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977639"/>
            <a:ext cx="1783080" cy="411480"/>
          </a:xfrm>
          <a:prstGeom prst="round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4078223"/>
            <a:ext cx="1783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Fine Motor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977639"/>
            <a:ext cx="1874519" cy="411480"/>
          </a:xfrm>
          <a:prstGeom prst="round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78223"/>
            <a:ext cx="187451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Gross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2764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Aptos"/>
              </a:defRPr>
            </a:pPr>
            <a:r>
              <a:t>Prepared by K K Srividya | Onboarding &amp;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The Common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What therapist feedback is telling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856232"/>
            <a:ext cx="100584" cy="100584"/>
          </a:xfrm>
          <a:prstGeom prst="ellipse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6172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A32"/>
                </a:solidFill>
                <a:latin typeface="Aptos"/>
              </a:defRPr>
            </a:pPr>
            <a:r>
              <a:t>Some modules contain lengthy video-based content.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86584"/>
            <a:ext cx="100584" cy="100584"/>
          </a:xfrm>
          <a:prstGeom prst="ellipse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13432"/>
            <a:ext cx="6172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A32"/>
                </a:solidFill>
                <a:latin typeface="Aptos"/>
              </a:defRPr>
            </a:pPr>
            <a:r>
              <a:t>Large amounts of information are difficult to absorb before practical sessions.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916936"/>
            <a:ext cx="100584" cy="100584"/>
          </a:xfrm>
          <a:prstGeom prst="ellipse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43784"/>
            <a:ext cx="6172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A32"/>
                </a:solidFill>
                <a:latin typeface="Aptos"/>
              </a:defRPr>
            </a:pPr>
            <a:r>
              <a:t>TEACCH includes long-form foundational content.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447287"/>
            <a:ext cx="100584" cy="100584"/>
          </a:xfrm>
          <a:prstGeom prst="ellipse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74135"/>
            <a:ext cx="6172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A32"/>
                </a:solidFill>
                <a:latin typeface="Aptos"/>
              </a:defRPr>
            </a:pPr>
            <a:r>
              <a:t>Fine Motor and Gross Motor include concepts plus activity demonstrations.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828800"/>
            <a:ext cx="3703320" cy="2148840"/>
          </a:xfrm>
          <a:prstGeom prst="roundRect">
            <a:avLst/>
          </a:prstGeom>
          <a:solidFill>
            <a:srgbClr val="FFF2CD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828800"/>
            <a:ext cx="73152" cy="214884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975104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Key message</a:t>
            </a:r>
          </a:p>
          <a:p>
            <a:pPr>
              <a:spcBef>
                <a:spcPts val="600"/>
              </a:spcBef>
              <a:defRPr sz="1800">
                <a:solidFill>
                  <a:srgbClr val="232A32"/>
                </a:solidFill>
                <a:latin typeface="Aptos"/>
              </a:defRPr>
            </a:pPr>
            <a:r>
              <a:t>The challenge is not the content. It is how much information is delivered in one sitting.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696712"/>
            <a:ext cx="10698480" cy="530352"/>
          </a:xfrm>
          <a:prstGeom prst="roundRect">
            <a:avLst/>
          </a:prstGeom>
          <a:solidFill>
            <a:srgbClr val="FFF2CD"/>
          </a:solidFill>
          <a:ln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815584"/>
            <a:ext cx="10149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Redesign focus: keep the same learning expectations, but improve sequencing and format.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What Should Change?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Move from a long content chain to a modular learning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498348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73152" cy="274320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83664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Current path</a:t>
            </a:r>
          </a:p>
          <a:p>
            <a:pPr>
              <a:spcBef>
                <a:spcPts val="500"/>
              </a:spcBef>
              <a:defRPr sz="1800">
                <a:solidFill>
                  <a:srgbClr val="232A32"/>
                </a:solidFill>
                <a:latin typeface="Aptos"/>
              </a:defRPr>
            </a:pPr>
            <a:r>
              <a:t>Long video</a:t>
            </a:r>
          </a:p>
          <a:p>
            <a:pPr>
              <a:spcBef>
                <a:spcPts val="500"/>
              </a:spcBef>
              <a:defRPr sz="1800">
                <a:solidFill>
                  <a:srgbClr val="232A32"/>
                </a:solidFill>
                <a:latin typeface="Aptos"/>
              </a:defRPr>
            </a:pPr>
            <a:r>
              <a:t>More video</a:t>
            </a:r>
          </a:p>
          <a:p>
            <a:pPr>
              <a:spcBef>
                <a:spcPts val="500"/>
              </a:spcBef>
              <a:defRPr sz="1800">
                <a:solidFill>
                  <a:srgbClr val="232A32"/>
                </a:solidFill>
                <a:latin typeface="Aptos"/>
              </a:defRPr>
            </a:pPr>
            <a:r>
              <a:t>Assignment / quiz</a:t>
            </a:r>
          </a:p>
          <a:p>
            <a:pPr>
              <a:spcBef>
                <a:spcPts val="500"/>
              </a:spcBef>
              <a:defRPr sz="1800">
                <a:solidFill>
                  <a:srgbClr val="232A32"/>
                </a:solidFill>
                <a:latin typeface="Aptos"/>
              </a:defRPr>
            </a:pPr>
            <a:r>
              <a:t>Approval</a:t>
            </a:r>
          </a:p>
          <a:p>
            <a:pPr>
              <a:spcBef>
                <a:spcPts val="500"/>
              </a:spcBef>
              <a:defRPr sz="1800">
                <a:solidFill>
                  <a:srgbClr val="232A32"/>
                </a:solidFill>
                <a:latin typeface="Aptos"/>
              </a:defRPr>
            </a:pPr>
            <a:r>
              <a:t>Offline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4983480" cy="274320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73152" cy="27432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83664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Proposed path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Short readable + visual content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Knowledge check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Existing assignment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Approval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Offline: demonstrate, practise, discuss, apply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696712"/>
            <a:ext cx="10698480" cy="530352"/>
          </a:xfrm>
          <a:prstGeom prst="roundRect">
            <a:avLst/>
          </a:prstGeom>
          <a:solidFill>
            <a:srgbClr val="FFF2CD"/>
          </a:solidFill>
          <a:ln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815584"/>
            <a:ext cx="10149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Important: existing approval criteria remain unchanged.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One Model, Different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Choose the format based on what learners need before they arrive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343400"/>
                <a:gridCol w="44348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Pre-learning format</a:t>
                      </a:r>
                    </a:p>
                  </a:txBody>
                  <a:tcPr anchor="ctr"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Offline focus</a:t>
                      </a:r>
                    </a:p>
                  </a:txBody>
                  <a:tcPr anchor="ctr">
                    <a:solidFill>
                      <a:srgbClr val="122B4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TEACCH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Readables + visual examples + quizzes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Build, review and troubleshoot structures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Fine Motor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Animated/visual explainer + examples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Demonstration + activity practice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Gross Motor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Animated/visual explainer + examples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Demonstration + activity practice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5696712"/>
            <a:ext cx="10698480" cy="530352"/>
          </a:xfrm>
          <a:prstGeom prst="roundRect">
            <a:avLst/>
          </a:prstGeom>
          <a:solidFill>
            <a:srgbClr val="FFF2CD"/>
          </a:solidFill>
          <a:ln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815584"/>
            <a:ext cx="10149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Key principle: pre-learning should prepare therapists for practice, not replace practice.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TEACCH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Break it into micro-learning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1901952" cy="182880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73152" cy="18288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37944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TEACCH Foundations</a:t>
            </a:r>
            <a:br/>
            <a:r>
              <a:t>Short readable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691640"/>
            <a:ext cx="1901952" cy="18288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1691640"/>
            <a:ext cx="73152" cy="18288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837944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Physical Structure</a:t>
            </a:r>
            <a:br/>
            <a:r>
              <a:t>Visual explainer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691640"/>
            <a:ext cx="1901952" cy="182880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691640"/>
            <a:ext cx="73152" cy="18288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837944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Visual Schedules</a:t>
            </a:r>
            <a:br/>
            <a:r>
              <a:t>Examples + short resource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691640"/>
            <a:ext cx="1901952" cy="18288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691640"/>
            <a:ext cx="73152" cy="18288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837944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Work Systems</a:t>
            </a:r>
            <a:br/>
            <a:r>
              <a:t>Visual examples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691640"/>
            <a:ext cx="1901952" cy="182880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691640"/>
            <a:ext cx="73152" cy="18288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837944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Task Structure</a:t>
            </a:r>
            <a:br/>
            <a:r>
              <a:t>Short readable +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14800"/>
            <a:ext cx="2834640" cy="868680"/>
          </a:xfrm>
          <a:prstGeom prst="roundRect">
            <a:avLst/>
          </a:prstGeom>
          <a:solidFill>
            <a:srgbClr val="FFF2CD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114800"/>
            <a:ext cx="73152" cy="86868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261104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Knowledge check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Confirm readiness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114800"/>
            <a:ext cx="3246120" cy="868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4114800"/>
            <a:ext cx="73152" cy="868680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61104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Existing assignments</a:t>
            </a:r>
          </a:p>
          <a:p>
            <a:pPr>
              <a:spcBef>
                <a:spcPts val="600"/>
              </a:spcBef>
              <a:defRPr sz="1200">
                <a:solidFill>
                  <a:srgbClr val="232A32"/>
                </a:solidFill>
                <a:latin typeface="Aptos"/>
              </a:defRPr>
            </a:pPr>
            <a:r>
              <a:t>Task structure | Visual schedule | Work 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4114800"/>
            <a:ext cx="2971800" cy="86868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4114800"/>
            <a:ext cx="73152" cy="86868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261104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Offline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Apply and troubleshoot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Fine Motor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See it -&gt; Understand it -&gt; Do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754880" cy="2651760"/>
          </a:xfrm>
          <a:prstGeom prst="roundRect">
            <a:avLst/>
          </a:prstGeom>
          <a:solidFill>
            <a:srgbClr val="FFF2CD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265176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37944"/>
            <a:ext cx="4343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Pre-learning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Short animated video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Key skill areas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Activity examples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What therapists should observe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Basic considerations for selecting activities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4434840" cy="566928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73152" cy="56692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379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B42"/>
                </a:solidFill>
                <a:latin typeface="Aptos"/>
              </a:defRPr>
            </a:pPr>
            <a:r>
              <a:t>Demonstration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496312"/>
            <a:ext cx="4434840" cy="566928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496312"/>
            <a:ext cx="73152" cy="56692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426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B42"/>
                </a:solidFill>
                <a:latin typeface="Aptos"/>
              </a:defRPr>
            </a:pPr>
            <a:r>
              <a:t>Hands-on practice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300984"/>
            <a:ext cx="4434840" cy="566928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300984"/>
            <a:ext cx="73152" cy="56692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4728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B42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105656"/>
            <a:ext cx="4434840" cy="566928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105656"/>
            <a:ext cx="73152" cy="56692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B42"/>
                </a:solidFill>
                <a:latin typeface="Aptos"/>
              </a:defRPr>
            </a:pPr>
            <a:r>
              <a:t>Case/application 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96712"/>
            <a:ext cx="10698480" cy="530352"/>
          </a:xfrm>
          <a:prstGeom prst="roundRect">
            <a:avLst/>
          </a:prstGeom>
          <a:solidFill>
            <a:srgbClr val="FFF2CD"/>
          </a:solidFill>
          <a:ln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815584"/>
            <a:ext cx="10149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Offline focus: let therapists practise selecting, setting up and adapting activities.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Gross Motor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Visualise -&gt; Discuss -&gt; Practise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3794760" cy="274320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274320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37944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Pre-learning</a:t>
            </a:r>
          </a:p>
          <a:p>
            <a:pPr>
              <a:spcBef>
                <a:spcPts val="600"/>
              </a:spcBef>
              <a:defRPr sz="1800">
                <a:solidFill>
                  <a:srgbClr val="232A32"/>
                </a:solidFill>
                <a:latin typeface="Aptos"/>
              </a:defRPr>
            </a:pPr>
            <a:r>
              <a:t>Short animated/visual explainer built around: Concept -&gt; Example -&gt; 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691640"/>
            <a:ext cx="278892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480" y="1691640"/>
            <a:ext cx="73152" cy="2743200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837944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Quick quiz</a:t>
            </a:r>
          </a:p>
          <a:p>
            <a:pPr>
              <a:spcBef>
                <a:spcPts val="6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Check understanding before the offline session.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2971800" cy="2743200"/>
          </a:xfrm>
          <a:prstGeom prst="roundRect">
            <a:avLst/>
          </a:prstGeom>
          <a:solidFill>
            <a:srgbClr val="FFF2CD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274320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37944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B42"/>
                </a:solidFill>
                <a:latin typeface="Aptos"/>
              </a:defRPr>
            </a:pPr>
            <a:r>
              <a:t>Offline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Demonstrate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Try the activity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Adapt it</a:t>
            </a:r>
          </a:p>
          <a:p>
            <a:pPr>
              <a:spcBef>
                <a:spcPts val="500"/>
              </a:spcBef>
              <a:defRPr sz="1500">
                <a:solidFill>
                  <a:srgbClr val="232A32"/>
                </a:solidFill>
                <a:latin typeface="Aptos"/>
              </a:defRPr>
            </a:pPr>
            <a:r>
              <a:t>Discuss the child's needs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696712"/>
            <a:ext cx="10698480" cy="530352"/>
          </a:xfrm>
          <a:prstGeom prst="roundRect">
            <a:avLst/>
          </a:prstGeom>
          <a:solidFill>
            <a:srgbClr val="FFF2CD"/>
          </a:solidFill>
          <a:ln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815584"/>
            <a:ext cx="10149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Example prompt: A child has difficulty with balance. Which activity could you select, and how could you adapt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What Moves Offline?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Offline training is the high-value 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892040" cy="30632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306324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37944"/>
            <a:ext cx="44805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B42"/>
                </a:solidFill>
                <a:latin typeface="Aptos"/>
              </a:defRPr>
            </a:pPr>
            <a:r>
              <a:t>Reduce offline time spent on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Definitions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Long theoretical explanations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Repeating videos</a:t>
            </a:r>
          </a:p>
          <a:p>
            <a:pPr>
              <a:spcBef>
                <a:spcPts val="500"/>
              </a:spcBef>
              <a:defRPr sz="1700">
                <a:solidFill>
                  <a:srgbClr val="232A32"/>
                </a:solidFill>
                <a:latin typeface="Aptos"/>
              </a:defRPr>
            </a:pPr>
            <a:r>
              <a:t>Information that can be read independently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4892040" cy="306324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73152" cy="306324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37944"/>
            <a:ext cx="44805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B42"/>
                </a:solidFill>
                <a:latin typeface="Aptos"/>
              </a:defRPr>
            </a:pPr>
            <a:r>
              <a:t>Use offline time for</a:t>
            </a:r>
          </a:p>
          <a:p>
            <a:pPr>
              <a:spcBef>
                <a:spcPts val="500"/>
              </a:spcBef>
              <a:defRPr sz="1600">
                <a:solidFill>
                  <a:srgbClr val="232A32"/>
                </a:solidFill>
                <a:latin typeface="Aptos"/>
              </a:defRPr>
            </a:pPr>
            <a:r>
              <a:t>Demonstration</a:t>
            </a:r>
          </a:p>
          <a:p>
            <a:pPr>
              <a:spcBef>
                <a:spcPts val="500"/>
              </a:spcBef>
              <a:defRPr sz="1600">
                <a:solidFill>
                  <a:srgbClr val="232A32"/>
                </a:solidFill>
                <a:latin typeface="Aptos"/>
              </a:defRPr>
            </a:pPr>
            <a:r>
              <a:t>Hands-on practice</a:t>
            </a:r>
          </a:p>
          <a:p>
            <a:pPr>
              <a:spcBef>
                <a:spcPts val="500"/>
              </a:spcBef>
              <a:defRPr sz="1600">
                <a:solidFill>
                  <a:srgbClr val="232A32"/>
                </a:solidFill>
                <a:latin typeface="Aptos"/>
              </a:defRPr>
            </a:pPr>
            <a:r>
              <a:t>Case discussions</a:t>
            </a:r>
          </a:p>
          <a:p>
            <a:pPr>
              <a:spcBef>
                <a:spcPts val="500"/>
              </a:spcBef>
              <a:defRPr sz="1600">
                <a:solidFill>
                  <a:srgbClr val="232A32"/>
                </a:solidFill>
                <a:latin typeface="Aptos"/>
              </a:defRPr>
            </a:pPr>
            <a:r>
              <a:t>Adapting activities</a:t>
            </a:r>
          </a:p>
          <a:p>
            <a:pPr>
              <a:spcBef>
                <a:spcPts val="500"/>
              </a:spcBef>
              <a:defRPr sz="1600">
                <a:solidFill>
                  <a:srgbClr val="232A32"/>
                </a:solidFill>
                <a:latin typeface="Aptos"/>
              </a:defRPr>
            </a:pPr>
            <a:r>
              <a:t>Troubleshooting</a:t>
            </a:r>
          </a:p>
          <a:p>
            <a:pPr>
              <a:spcBef>
                <a:spcPts val="500"/>
              </a:spcBef>
              <a:defRPr sz="1600">
                <a:solidFill>
                  <a:srgbClr val="232A32"/>
                </a:solidFill>
                <a:latin typeface="Aptos"/>
              </a:defRPr>
            </a:pPr>
            <a:r>
              <a:t>Questions and field experiences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696712"/>
            <a:ext cx="10698480" cy="530352"/>
          </a:xfrm>
          <a:prstGeom prst="roundRect">
            <a:avLst/>
          </a:prstGeom>
          <a:solidFill>
            <a:srgbClr val="FFF2CD"/>
          </a:solidFill>
          <a:ln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815584"/>
            <a:ext cx="10149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Principle: independent learning goes before the session; demonstration, practice and discussion happen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The Existing Approval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What stays the same?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914400" cy="914400"/>
          </a:xfrm>
          <a:prstGeom prst="ellipse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3154680"/>
            <a:ext cx="1920240" cy="822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79" y="3154680"/>
            <a:ext cx="73152" cy="82296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" y="3300984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Complete pre-learning</a:t>
            </a:r>
          </a:p>
        </p:txBody>
      </p:sp>
      <p:sp>
        <p:nvSpPr>
          <p:cNvPr id="13" name="Oval 12"/>
          <p:cNvSpPr/>
          <p:nvPr/>
        </p:nvSpPr>
        <p:spPr>
          <a:xfrm>
            <a:off x="3611880" y="1920240"/>
            <a:ext cx="914400" cy="914400"/>
          </a:xfrm>
          <a:prstGeom prst="ellipse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1762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154680"/>
            <a:ext cx="1920240" cy="822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3154680"/>
            <a:ext cx="73152" cy="82296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300984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Complete quizzes / assignments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920240"/>
            <a:ext cx="914400" cy="914400"/>
          </a:xfrm>
          <a:prstGeom prst="ellipse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762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154680"/>
            <a:ext cx="1920240" cy="822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3154680"/>
            <a:ext cx="73152" cy="822960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300984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Meet existing approval criteria</a:t>
            </a:r>
          </a:p>
        </p:txBody>
      </p:sp>
      <p:sp>
        <p:nvSpPr>
          <p:cNvPr id="23" name="Oval 22"/>
          <p:cNvSpPr/>
          <p:nvPr/>
        </p:nvSpPr>
        <p:spPr>
          <a:xfrm>
            <a:off x="9006840" y="1920240"/>
            <a:ext cx="914400" cy="914400"/>
          </a:xfrm>
          <a:prstGeom prst="ellipse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1762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154680"/>
            <a:ext cx="1920240" cy="822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3154680"/>
            <a:ext cx="73152" cy="82296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3300984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Attend offline training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696712"/>
            <a:ext cx="10698480" cy="530352"/>
          </a:xfrm>
          <a:prstGeom prst="roundRect">
            <a:avLst/>
          </a:prstGeom>
          <a:solidFill>
            <a:srgbClr val="E0F4F0"/>
          </a:solidFill>
          <a:ln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815584"/>
            <a:ext cx="10149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2B42"/>
                </a:solidFill>
                <a:latin typeface="Aptos"/>
              </a:defRPr>
            </a:pPr>
            <a:r>
              <a:t>What changes? Only the way the pre-learning content is designed and delivered.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The New Learning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A clearer sequence from preparation to field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600200"/>
            <a:ext cx="3246120" cy="1078992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600200"/>
            <a:ext cx="73152" cy="1078992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46504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01 | LEARN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Short + focused pre-learning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600200"/>
            <a:ext cx="3246120" cy="10789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600200"/>
            <a:ext cx="73152" cy="1078992"/>
          </a:xfrm>
          <a:prstGeom prst="rect">
            <a:avLst/>
          </a:prstGeom>
          <a:solidFill>
            <a:srgbClr val="286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746504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02 | CHECK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Quiz / knowledge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600200"/>
            <a:ext cx="3246120" cy="10789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600200"/>
            <a:ext cx="73152" cy="1078992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746504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03 | APPLY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Complete existing assignment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383280"/>
            <a:ext cx="3246120" cy="10789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383280"/>
            <a:ext cx="73152" cy="1078992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529584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04 | APPROVE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Existing Insighte criteria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8848" y="3383280"/>
            <a:ext cx="3246120" cy="1078992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8848" y="3383280"/>
            <a:ext cx="73152" cy="1078992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529584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05 | PRACTISE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Offline demonstration + activities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3383280"/>
            <a:ext cx="3246120" cy="10789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3383280"/>
            <a:ext cx="73152" cy="1078992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3529584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B42"/>
                </a:solidFill>
                <a:latin typeface="Aptos"/>
              </a:defRPr>
            </a:pPr>
            <a:r>
              <a:t>06 | TRANSFER</a:t>
            </a:r>
          </a:p>
          <a:p>
            <a:pPr>
              <a:spcBef>
                <a:spcPts val="6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Apply on-field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469880" y="-713232"/>
            <a:ext cx="2331720" cy="2331720"/>
          </a:xfrm>
          <a:prstGeom prst="arc">
            <a:avLst/>
          </a:prstGeom>
          <a:ln w="101600">
            <a:solidFill>
              <a:srgbClr val="D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52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B42"/>
                </a:solidFill>
                <a:latin typeface="Aptos Display"/>
              </a:defRPr>
            </a:pPr>
            <a:r>
              <a:t>Expected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921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Why this redesign improves the learning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143000" cy="64008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3200400" cy="3337560"/>
          </a:xfrm>
          <a:prstGeom prst="roundRect">
            <a:avLst/>
          </a:prstGeom>
          <a:solidFill>
            <a:srgbClr val="E0F4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333756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37944"/>
            <a:ext cx="2788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B42"/>
                </a:solidFill>
                <a:latin typeface="Aptos"/>
              </a:defRPr>
            </a:pPr>
            <a:r>
              <a:t>For Therapists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Reduced cognitive load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Manageable pre-learning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More engaging experience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Better preparation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More hands-on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3200400" cy="33375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91640"/>
            <a:ext cx="73152" cy="333756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837944"/>
            <a:ext cx="2788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B42"/>
                </a:solidFill>
                <a:latin typeface="Aptos"/>
              </a:defRPr>
            </a:pPr>
            <a:r>
              <a:t>For Trainers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Less repetition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More time for practical teaching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Better opportunity to address questions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More meaningful interaction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200400" cy="3337560"/>
          </a:xfrm>
          <a:prstGeom prst="roundRect">
            <a:avLst/>
          </a:prstGeom>
          <a:solidFill>
            <a:srgbClr val="FFF2CD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333756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37944"/>
            <a:ext cx="2788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B42"/>
                </a:solidFill>
                <a:latin typeface="Aptos"/>
              </a:defRPr>
            </a:pPr>
            <a:r>
              <a:t>For Insighte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Modular learning resources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Consistent foundational knowledge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Better use of offline time</a:t>
            </a:r>
          </a:p>
          <a:p>
            <a:pPr>
              <a:spcBef>
                <a:spcPts val="500"/>
              </a:spcBef>
              <a:defRPr sz="1400">
                <a:solidFill>
                  <a:srgbClr val="232A32"/>
                </a:solidFill>
                <a:latin typeface="Aptos"/>
              </a:defRPr>
            </a:pPr>
            <a:r>
              <a:t>Reusable and updatable learning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LEARN BEFORE.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2F4F2"/>
                </a:solidFill>
                <a:latin typeface="Aptos Display"/>
              </a:defRPr>
            </a:pPr>
            <a:r>
              <a:t>PRACTISE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337560"/>
            <a:ext cx="2880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337560"/>
            <a:ext cx="73152" cy="960120"/>
          </a:xfrm>
          <a:prstGeom prst="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483864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B42"/>
                </a:solidFill>
                <a:latin typeface="Aptos"/>
              </a:defRPr>
            </a:pPr>
            <a:r>
              <a:t>Shorter pre-learning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337560"/>
            <a:ext cx="2880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3337560"/>
            <a:ext cx="73152" cy="960120"/>
          </a:xfrm>
          <a:prstGeom prst="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483864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B42"/>
                </a:solidFill>
                <a:latin typeface="Aptos"/>
              </a:defRPr>
            </a:pPr>
            <a:r>
              <a:t>Stronger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337560"/>
            <a:ext cx="2880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337560"/>
            <a:ext cx="73152" cy="96012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483864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B42"/>
                </a:solidFill>
                <a:latin typeface="Aptos"/>
              </a:defRPr>
            </a:pPr>
            <a:r>
              <a:t>More meaningful offline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4892040"/>
            <a:ext cx="1417320" cy="411480"/>
          </a:xfrm>
          <a:prstGeom prst="roundRect">
            <a:avLst/>
          </a:prstGeom>
          <a:solidFill>
            <a:srgbClr val="ED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4992624"/>
            <a:ext cx="1417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TEACCH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0288" y="4892040"/>
            <a:ext cx="1783080" cy="411480"/>
          </a:xfrm>
          <a:prstGeom prst="roundRect">
            <a:avLst/>
          </a:prstGeom>
          <a:solidFill>
            <a:srgbClr val="00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4992624"/>
            <a:ext cx="1783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Fine Motor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4892040"/>
            <a:ext cx="1874519" cy="411480"/>
          </a:xfrm>
          <a:prstGeom prst="round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4992624"/>
            <a:ext cx="187451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Gross 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0080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Redesigning Long-Form Training</dc:title>
  <dc:subject>A Modular Approach to TEACCH, Fine Motor and Gross Motor Training</dc:subject>
  <dc:creator>Cursor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