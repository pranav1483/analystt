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4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07408" y="0"/>
            <a:ext cx="16459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320040"/>
            <a:ext cx="1097280" cy="1097280"/>
          </a:xfrm>
          <a:prstGeom prst="ellipse">
            <a:avLst/>
          </a:prstGeom>
          <a:solidFill>
            <a:srgbClr val="D7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1097280" cy="1097280"/>
          </a:xfrm>
          <a:prstGeom prst="ellipse">
            <a:avLst/>
          </a:prstGeom>
          <a:solidFill>
            <a:srgbClr val="FFF1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26679" y="5074920"/>
            <a:ext cx="1097280" cy="1097280"/>
          </a:xfrm>
          <a:prstGeom prst="ellipse">
            <a:avLst/>
          </a:prstGeom>
          <a:solidFill>
            <a:srgbClr val="E0F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3520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86000"/>
              </a:lnSpc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COMMUNICATION</a:t>
            </a:r>
            <a:br/>
            <a:r>
              <a:t>&amp; AAC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54680"/>
            <a:ext cx="3291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800">
                <a:solidFill>
                  <a:srgbClr val="E0EEF0"/>
                </a:solidFill>
                <a:latin typeface="Aptos"/>
              </a:defRPr>
            </a:pPr>
            <a:r>
              <a:t>Redesign Proposal:</a:t>
            </a:r>
            <a:br/>
            <a:r>
              <a:t>From Online Learning to Interactive 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143000"/>
            <a:ext cx="5669280" cy="18288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1143000"/>
            <a:ext cx="73152" cy="182880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307592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F48"/>
                </a:solidFill>
                <a:latin typeface="Aptos"/>
              </a:defRPr>
            </a:pPr>
            <a:r>
              <a:t>Purpose of the redesign</a:t>
            </a:r>
          </a:p>
          <a:p>
            <a:pPr>
              <a:spcBef>
                <a:spcPts val="600"/>
              </a:spcBef>
              <a:defRPr sz="1600">
                <a:solidFill>
                  <a:srgbClr val="242A32"/>
                </a:solidFill>
                <a:latin typeface="Aptos"/>
              </a:defRPr>
            </a:pPr>
            <a:r>
              <a:t>Shift lengthy online content into a short pre-learning component and an interactive facilitator-led workshop focused on demonstration, practice, discussion and real-world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3337560"/>
            <a:ext cx="5669280" cy="132588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3337560"/>
            <a:ext cx="73152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3502152"/>
            <a:ext cx="5257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F48"/>
                </a:solidFill>
                <a:latin typeface="Aptos"/>
              </a:defRPr>
            </a:pPr>
            <a:r>
              <a:t>Key insight</a:t>
            </a:r>
          </a:p>
          <a:p>
            <a:pPr>
              <a:spcBef>
                <a:spcPts val="600"/>
              </a:spcBef>
              <a:defRPr sz="1700">
                <a:solidFill>
                  <a:srgbClr val="242A32"/>
                </a:solidFill>
                <a:latin typeface="Aptos"/>
              </a:defRPr>
            </a:pPr>
            <a:r>
              <a:t>AAC is a skill that benefits from demonstration, practice and discussion - not just passive viewing.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Why Are We Redesigning?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Feedback from on-field therapists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947671"/>
            <a:ext cx="100584" cy="100584"/>
          </a:xfrm>
          <a:prstGeom prst="ellipse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74519"/>
            <a:ext cx="6263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242A32"/>
                </a:solidFill>
                <a:latin typeface="Aptos"/>
              </a:defRPr>
            </a:pPr>
            <a:r>
              <a:t>Online training videos are lengthy.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450591"/>
            <a:ext cx="100584" cy="100584"/>
          </a:xfrm>
          <a:prstGeom prst="ellipse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39"/>
            <a:ext cx="6263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242A32"/>
                </a:solidFill>
                <a:latin typeface="Aptos"/>
              </a:defRPr>
            </a:pPr>
            <a:r>
              <a:t>Content can feel repetitive.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53511"/>
            <a:ext cx="100584" cy="100584"/>
          </a:xfrm>
          <a:prstGeom prst="ellipse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80359"/>
            <a:ext cx="6263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242A32"/>
                </a:solidFill>
                <a:latin typeface="Aptos"/>
              </a:defRPr>
            </a:pPr>
            <a:r>
              <a:t>Therapists would benefit from more interactive learning.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456431"/>
            <a:ext cx="100584" cy="100584"/>
          </a:xfrm>
          <a:prstGeom prst="ellipse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383279"/>
            <a:ext cx="6263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242A32"/>
                </a:solidFill>
                <a:latin typeface="Aptos"/>
              </a:defRPr>
            </a:pPr>
            <a:r>
              <a:t>Therapists want greater practical exposure.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59351"/>
            <a:ext cx="100584" cy="100584"/>
          </a:xfrm>
          <a:prstGeom prst="ellipse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886199"/>
            <a:ext cx="62636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000">
                <a:solidFill>
                  <a:srgbClr val="242A32"/>
                </a:solidFill>
                <a:latin typeface="Aptos"/>
              </a:defRPr>
            </a:pPr>
            <a:r>
              <a:t>More support is needed for communication in non-speaking children.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828800"/>
            <a:ext cx="3429000" cy="2103120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1828800"/>
            <a:ext cx="73152" cy="210312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1993392"/>
            <a:ext cx="301752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F48"/>
                </a:solidFill>
                <a:latin typeface="Aptos"/>
              </a:defRPr>
            </a:pPr>
            <a:r>
              <a:t>Goal</a:t>
            </a:r>
          </a:p>
          <a:p>
            <a:pPr>
              <a:spcBef>
                <a:spcPts val="600"/>
              </a:spcBef>
              <a:defRPr sz="2100">
                <a:solidFill>
                  <a:srgbClr val="242A32"/>
                </a:solidFill>
                <a:latin typeface="Aptos"/>
              </a:defRPr>
            </a:pPr>
            <a:r>
              <a:t>Move from passive viewing to practical, applied learning.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FFF1CC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Design principle: make the live session experiential, participatory and immediately usable in therapy contexts.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Current vs 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Moving from content delivery to guided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1691640"/>
          <a:ext cx="1042416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5440680"/>
              </a:tblGrid>
              <a:tr h="542108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</a:t>
                      </a:r>
                    </a:p>
                  </a:txBody>
                  <a:tcPr anchor="ctr">
                    <a:solidFill>
                      <a:srgbClr val="142F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Proposed</a:t>
                      </a:r>
                    </a:p>
                  </a:txBody>
                  <a:tcPr anchor="ctr">
                    <a:solidFill>
                      <a:srgbClr val="008080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Online-only module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Offline facilitator-led session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Long-form video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Short pre-learning + live training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Passive learning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Interactive learning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Information-focused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Practice-focused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Limited opportunity to ask questions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Real-time discussion and clarification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General AAC introduction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50">
                          <a:solidFill>
                            <a:srgbClr val="242A32"/>
                          </a:solidFill>
                          <a:latin typeface="Aptos"/>
                        </a:defRPr>
                      </a:pPr>
                      <a:r>
                        <a:t>Communication + AAC in real-life contexts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By the end of the session, therapists will be able to...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3063240" cy="1325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56232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F48"/>
                </a:solidFill>
                <a:latin typeface="Aptos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500">
                <a:solidFill>
                  <a:srgbClr val="242A32"/>
                </a:solidFill>
                <a:latin typeface="Aptos"/>
              </a:defRPr>
            </a:pPr>
            <a:r>
              <a:t>Understand communication beyond spoken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063240" cy="132588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91640"/>
            <a:ext cx="73152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56232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F48"/>
                </a:solidFill>
                <a:latin typeface="Aptos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500">
                <a:solidFill>
                  <a:srgbClr val="242A32"/>
                </a:solidFill>
                <a:latin typeface="Aptos"/>
              </a:defRPr>
            </a:pPr>
            <a:r>
              <a:t>Identify different forms of communication.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691640"/>
            <a:ext cx="3063240" cy="1325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691640"/>
            <a:ext cx="73152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56232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F48"/>
                </a:solidFill>
                <a:latin typeface="Aptos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500">
                <a:solidFill>
                  <a:srgbClr val="242A32"/>
                </a:solidFill>
                <a:latin typeface="Aptos"/>
              </a:defRPr>
            </a:pPr>
            <a:r>
              <a:t>Understand the purpose and role of AAC.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49039"/>
            <a:ext cx="3063240" cy="132588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749039"/>
            <a:ext cx="73152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13631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F48"/>
                </a:solidFill>
                <a:latin typeface="Aptos"/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500">
                <a:solidFill>
                  <a:srgbClr val="242A32"/>
                </a:solidFill>
                <a:latin typeface="Aptos"/>
              </a:defRPr>
            </a:pPr>
            <a:r>
              <a:t>Identify communication opportunities in everyday situations.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749039"/>
            <a:ext cx="3063240" cy="1325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73152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13631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F48"/>
                </a:solidFill>
                <a:latin typeface="Aptos"/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500">
                <a:solidFill>
                  <a:srgbClr val="242A32"/>
                </a:solidFill>
                <a:latin typeface="Aptos"/>
              </a:defRPr>
            </a:pPr>
            <a:r>
              <a:t>Apply basic AAC strategies with non-speaking children.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749039"/>
            <a:ext cx="3063240" cy="132588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3749039"/>
            <a:ext cx="73152" cy="13258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913631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F48"/>
                </a:solidFill>
                <a:latin typeface="Aptos"/>
              </a:defRPr>
            </a:pPr>
            <a:r>
              <a:t>06</a:t>
            </a:r>
          </a:p>
          <a:p>
            <a:pPr>
              <a:spcBef>
                <a:spcPts val="600"/>
              </a:spcBef>
              <a:defRPr sz="1500">
                <a:solidFill>
                  <a:srgbClr val="242A32"/>
                </a:solidFill>
                <a:latin typeface="Aptos"/>
              </a:defRPr>
            </a:pPr>
            <a:r>
              <a:t>Identify common barriers/mistakes and respond appropriately.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Understanding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Start with a scenario rather than a definition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937760" cy="2377440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237744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56232"/>
            <a:ext cx="4526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F48"/>
                </a:solidFill>
                <a:latin typeface="Aptos"/>
              </a:defRPr>
            </a:pPr>
            <a:r>
              <a:t>Scenario</a:t>
            </a:r>
          </a:p>
          <a:p>
            <a:pPr>
              <a:spcBef>
                <a:spcPts val="600"/>
              </a:spcBef>
              <a:defRPr sz="1800">
                <a:solidFill>
                  <a:srgbClr val="242A32"/>
                </a:solidFill>
                <a:latin typeface="Aptos"/>
              </a:defRPr>
            </a:pPr>
            <a:r>
              <a:t>A child reaches for a snack, pushes away an activity, pulls an adult towards something and makes vocalisations.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4892040" cy="237744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91640"/>
            <a:ext cx="73152" cy="2377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2"/>
            <a:ext cx="4480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F48"/>
                </a:solidFill>
                <a:latin typeface="Aptos"/>
              </a:defRPr>
            </a:pPr>
            <a:r>
              <a:t>Ask the group</a:t>
            </a:r>
          </a:p>
          <a:p>
            <a:pPr>
              <a:spcBef>
                <a:spcPts val="600"/>
              </a:spcBef>
              <a:defRPr sz="2200">
                <a:solidFill>
                  <a:srgbClr val="242A32"/>
                </a:solidFill>
                <a:latin typeface="Aptos"/>
              </a:defRPr>
            </a:pPr>
            <a:r>
              <a:t>"What is this child communicating?"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480560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4914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Gestures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4480560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54914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Body language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480560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54914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Facial expressions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4480560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4549140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Eye gaze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956048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2462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Vocalisations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4956048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02462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Behaviour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4956048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02462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Visual communication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956048"/>
            <a:ext cx="2240280" cy="347472"/>
          </a:xfrm>
          <a:prstGeom prst="roundRect">
            <a:avLst/>
          </a:prstGeom>
          <a:solidFill>
            <a:srgbClr val="F3F6F8"/>
          </a:solidFill>
          <a:ln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5024628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2F48"/>
                </a:solidFill>
                <a:latin typeface="Aptos"/>
              </a:defRPr>
            </a:pPr>
            <a:r>
              <a:t>AAC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E0F3F0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Key message: Communication does not equal speech.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AAC: What Does It Look Like?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Use real materials and demonstrations wherever possible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983480" cy="342900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342900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56232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F48"/>
                </a:solidFill>
                <a:latin typeface="Aptos"/>
              </a:defRPr>
            </a:pPr>
            <a:r>
              <a:t>Unaided AAC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Gestures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Signs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Facial expressions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Body movements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4983480" cy="34290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3429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56232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F48"/>
                </a:solidFill>
                <a:latin typeface="Aptos"/>
              </a:defRPr>
            </a:pPr>
            <a:r>
              <a:t>Aided AAC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Picture cards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Communication boards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PECS</a:t>
            </a:r>
          </a:p>
          <a:p>
            <a:pPr>
              <a:spcBef>
                <a:spcPts val="400"/>
              </a:spcBef>
              <a:defRPr sz="2000">
                <a:solidFill>
                  <a:srgbClr val="242A32"/>
                </a:solidFill>
                <a:latin typeface="Aptos"/>
              </a:defRPr>
            </a:pPr>
            <a:r>
              <a:t>AAC apps/devices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FFF1CC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Facilitator note: let participants see, hold or try actual materials instead of relying only on slide explanations.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Hands-On: Let's Try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Build practical familiarity with AAC through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2834640" cy="3611880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73152" cy="361188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64792"/>
            <a:ext cx="2423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2F48"/>
                </a:solidFill>
                <a:latin typeface="Aptos"/>
              </a:defRPr>
            </a:pPr>
            <a:r>
              <a:t>Set up</a:t>
            </a:r>
          </a:p>
          <a:p>
            <a:pPr>
              <a:spcBef>
                <a:spcPts val="600"/>
              </a:spcBef>
              <a:defRPr sz="1800">
                <a:solidFill>
                  <a:srgbClr val="242A32"/>
                </a:solidFill>
                <a:latin typeface="Aptos"/>
              </a:defRPr>
            </a:pPr>
            <a:r>
              <a:t>Give therapists a simple communication board or AAC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83080"/>
            <a:ext cx="2514600" cy="960120"/>
          </a:xfrm>
          <a:prstGeom prst="roundRect">
            <a:avLst/>
          </a:prstGeom>
          <a:solidFill>
            <a:srgbClr val="F3F6F8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11226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F48"/>
                </a:solidFill>
                <a:latin typeface="Aptos"/>
              </a:defRPr>
            </a:pPr>
            <a:r>
              <a:t>I want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783080"/>
            <a:ext cx="2514600" cy="960120"/>
          </a:xfrm>
          <a:prstGeom prst="roundRect">
            <a:avLst/>
          </a:prstGeom>
          <a:solidFill>
            <a:srgbClr val="F3F6F8"/>
          </a:solidFill>
          <a:ln w="25400">
            <a:solidFill>
              <a:srgbClr val="B8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11226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F48"/>
                </a:solidFill>
                <a:latin typeface="Aptos"/>
              </a:defRPr>
            </a:pPr>
            <a:r>
              <a:t>I don't want 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200400"/>
            <a:ext cx="2514600" cy="960120"/>
          </a:xfrm>
          <a:prstGeom prst="roundRect">
            <a:avLst/>
          </a:prstGeom>
          <a:solidFill>
            <a:srgbClr val="F3F6F8"/>
          </a:solidFill>
          <a:ln w="25400">
            <a:solidFill>
              <a:srgbClr val="4E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352958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F48"/>
                </a:solidFill>
                <a:latin typeface="Aptos"/>
              </a:defRPr>
            </a:pPr>
            <a:r>
              <a:t>Help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200400"/>
            <a:ext cx="2514600" cy="960120"/>
          </a:xfrm>
          <a:prstGeom prst="roundRect">
            <a:avLst/>
          </a:prstGeom>
          <a:solidFill>
            <a:srgbClr val="F3F6F8"/>
          </a:solidFill>
          <a:ln w="25400">
            <a:solidFill>
              <a:srgbClr val="EE8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3529584"/>
            <a:ext cx="2240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F48"/>
                </a:solidFill>
                <a:latin typeface="Aptos"/>
              </a:defRPr>
            </a:pPr>
            <a:r>
              <a:t>More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FFF1CC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Activity: practise using the board to communicate wants, refusal, help and continuation.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AAC in Everyday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Use real-life moments to identify communication opportunities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91640"/>
            <a:ext cx="4754880" cy="123444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91640"/>
            <a:ext cx="73152" cy="123444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5623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F48"/>
                </a:solidFill>
                <a:latin typeface="Aptos"/>
              </a:defRPr>
            </a:pPr>
            <a:r>
              <a:t>Snack time</a:t>
            </a:r>
          </a:p>
          <a:p>
            <a:pPr>
              <a:spcBef>
                <a:spcPts val="600"/>
              </a:spcBef>
              <a:defRPr sz="1400">
                <a:solidFill>
                  <a:srgbClr val="242A32"/>
                </a:solidFill>
                <a:latin typeface="Aptos"/>
              </a:defRPr>
            </a:pPr>
            <a:r>
              <a:t>What might the child request, refuse or comment 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91640"/>
            <a:ext cx="4754880" cy="12344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9164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85623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F48"/>
                </a:solidFill>
                <a:latin typeface="Aptos"/>
              </a:defRPr>
            </a:pPr>
            <a:r>
              <a:t>Activity refusal</a:t>
            </a:r>
          </a:p>
          <a:p>
            <a:pPr>
              <a:spcBef>
                <a:spcPts val="600"/>
              </a:spcBef>
              <a:defRPr sz="1400">
                <a:solidFill>
                  <a:srgbClr val="242A32"/>
                </a:solidFill>
                <a:latin typeface="Aptos"/>
              </a:defRPr>
            </a:pPr>
            <a:r>
              <a:t>How can refusal be respected and communicated?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83280"/>
            <a:ext cx="4754880" cy="123444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383280"/>
            <a:ext cx="73152" cy="123444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4787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F48"/>
                </a:solidFill>
                <a:latin typeface="Aptos"/>
              </a:defRPr>
            </a:pPr>
            <a:r>
              <a:t>Transition</a:t>
            </a:r>
          </a:p>
          <a:p>
            <a:pPr>
              <a:spcBef>
                <a:spcPts val="600"/>
              </a:spcBef>
              <a:defRPr sz="1400">
                <a:solidFill>
                  <a:srgbClr val="242A32"/>
                </a:solidFill>
                <a:latin typeface="Aptos"/>
              </a:defRPr>
            </a:pPr>
            <a:r>
              <a:t>How can AAC prepare or support the move?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383280"/>
            <a:ext cx="4754880" cy="123444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547872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F48"/>
                </a:solidFill>
                <a:latin typeface="Aptos"/>
              </a:defRPr>
            </a:pPr>
            <a:r>
              <a:t>Overwhelmed/distressed</a:t>
            </a:r>
          </a:p>
          <a:p>
            <a:pPr>
              <a:spcBef>
                <a:spcPts val="600"/>
              </a:spcBef>
              <a:defRPr sz="1400">
                <a:solidFill>
                  <a:srgbClr val="242A32"/>
                </a:solidFill>
                <a:latin typeface="Aptos"/>
              </a:defRPr>
            </a:pPr>
            <a:r>
              <a:t>What can the child communicate before escalation?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FFF1CC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Discussion prompts: What is the child communicating? How can we create an opportunity? How could AAC support this?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Supporting Non-Speaking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Principles to guide communication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00200"/>
            <a:ext cx="438912" cy="438912"/>
          </a:xfrm>
          <a:prstGeom prst="ellipse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64592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Presume competence</a:t>
            </a:r>
          </a:p>
        </p:txBody>
      </p:sp>
      <p:sp>
        <p:nvSpPr>
          <p:cNvPr id="11" name="Oval 10"/>
          <p:cNvSpPr/>
          <p:nvPr/>
        </p:nvSpPr>
        <p:spPr>
          <a:xfrm>
            <a:off x="4526280" y="1600200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099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64592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Recognise different forms of communication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0" y="1600200"/>
            <a:ext cx="438912" cy="438912"/>
          </a:xfrm>
          <a:prstGeom prst="ellipse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099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1645920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Provide multiple ways to communicate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770632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2816352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Model communication</a:t>
            </a:r>
          </a:p>
        </p:txBody>
      </p:sp>
      <p:sp>
        <p:nvSpPr>
          <p:cNvPr id="20" name="Oval 19"/>
          <p:cNvSpPr/>
          <p:nvPr/>
        </p:nvSpPr>
        <p:spPr>
          <a:xfrm>
            <a:off x="4526280" y="2770632"/>
            <a:ext cx="438912" cy="438912"/>
          </a:xfrm>
          <a:prstGeom prst="ellipse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880360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2816352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Give processing time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0" y="2770632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880360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2816352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Respect refusal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3941064"/>
            <a:ext cx="438912" cy="438912"/>
          </a:xfrm>
          <a:prstGeom prst="ellipse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5079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3986784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Avoid pressure to speak</a:t>
            </a:r>
          </a:p>
        </p:txBody>
      </p:sp>
      <p:sp>
        <p:nvSpPr>
          <p:cNvPr id="29" name="Oval 28"/>
          <p:cNvSpPr/>
          <p:nvPr/>
        </p:nvSpPr>
        <p:spPr>
          <a:xfrm>
            <a:off x="4526280" y="3941064"/>
            <a:ext cx="438912" cy="438912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05079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3208" y="3986784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Create meaningful opportunities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3941064"/>
            <a:ext cx="438912" cy="438912"/>
          </a:xfrm>
          <a:prstGeom prst="ellipse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05079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3986784"/>
            <a:ext cx="2880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F48"/>
                </a:solidFill>
                <a:latin typeface="Aptos"/>
              </a:defRPr>
            </a:pPr>
            <a:r>
              <a:t>Use AAC across everyday environments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E0F3F0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Core stance: notice communication, support it, and create more reasons to communicate.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Case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Apply the redesigned learning model to a realistic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10241280" cy="1325880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54480"/>
            <a:ext cx="73152" cy="132588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19072"/>
            <a:ext cx="9829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F48"/>
                </a:solidFill>
                <a:latin typeface="Aptos"/>
              </a:defRPr>
            </a:pPr>
            <a:r>
              <a:t>Case</a:t>
            </a:r>
          </a:p>
          <a:p>
            <a:pPr>
              <a:spcBef>
                <a:spcPts val="600"/>
              </a:spcBef>
              <a:defRPr sz="1700">
                <a:solidFill>
                  <a:srgbClr val="242A32"/>
                </a:solidFill>
                <a:latin typeface="Aptos"/>
              </a:defRPr>
            </a:pPr>
            <a:r>
              <a:t>A 6-year-old non-speaking child frequently pulls the teacher towards objects instead of requesting independently. The child has access to AAC but rarely uses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37560"/>
            <a:ext cx="306324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337560"/>
            <a:ext cx="73152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02152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What do you observe?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337560"/>
            <a:ext cx="306324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3337560"/>
            <a:ext cx="73152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502152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What could the child be communicating?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337560"/>
            <a:ext cx="306324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3337560"/>
            <a:ext cx="73152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502152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What might be preventing AAC use?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51960"/>
            <a:ext cx="306324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251960"/>
            <a:ext cx="73152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416552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What could the therapist do?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251960"/>
            <a:ext cx="3063240" cy="65836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4251960"/>
            <a:ext cx="73152" cy="6583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416552"/>
            <a:ext cx="26517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How could we create natural opportunities?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Make this an Agree / Disagree activity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4709160" cy="10515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83080"/>
            <a:ext cx="73152" cy="105156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476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AAC should only be used when a child cannot speak.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4709160" cy="10515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783080"/>
            <a:ext cx="73152" cy="105156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476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If a child is vocalising, we don't need AAC.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383280"/>
            <a:ext cx="4709160" cy="10515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383280"/>
            <a:ext cx="73152" cy="105156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5478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AAC should only be used during therapy.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383280"/>
            <a:ext cx="4709160" cy="105156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383280"/>
            <a:ext cx="73152" cy="105156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547872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Encourage speech before giving access to AAC.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846320"/>
            <a:ext cx="3063240" cy="566928"/>
          </a:xfrm>
          <a:prstGeom prst="round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95160" y="4846320"/>
            <a:ext cx="3063240" cy="566928"/>
          </a:xfrm>
          <a:prstGeom prst="round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4992624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AGREE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992624"/>
            <a:ext cx="3063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DISAGREE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FFF1CC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Ask therapists to respond first, then facilitate discussion and correct misconceptions.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Reflection and quick knowledge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4709160" cy="91440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731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True/False: AAC prevents speech development.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4709160" cy="9144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731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0195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What is one way to create a communication opportunity?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154680"/>
            <a:ext cx="4709160" cy="914400"/>
          </a:xfrm>
          <a:prstGeom prst="roundRect">
            <a:avLst/>
          </a:prstGeom>
          <a:solidFill>
            <a:srgbClr val="E0F3F0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154680"/>
            <a:ext cx="731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31927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Name one form of unaided AAC.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154680"/>
            <a:ext cx="4709160" cy="9144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154680"/>
            <a:ext cx="731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319272"/>
            <a:ext cx="4297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F48"/>
                </a:solidFill>
                <a:latin typeface="Aptos"/>
              </a:defRPr>
            </a:pPr>
            <a:r>
              <a:t>What is one thing you will try in your next session?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10149840" cy="822960"/>
          </a:xfrm>
          <a:prstGeom prst="roundRect">
            <a:avLst/>
          </a:prstGeom>
          <a:solidFill>
            <a:srgbClr val="14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266944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Communication happens in many forms. Our role is to notice it, support it, and create more opportunities for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10561320" y="-594360"/>
            <a:ext cx="2103120" cy="2103120"/>
          </a:xfrm>
          <a:prstGeom prst="arc">
            <a:avLst/>
          </a:prstGeom>
          <a:ln w="101600">
            <a:solidFill>
              <a:srgbClr val="D7E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F48"/>
                </a:solidFill>
                <a:latin typeface="Aptos Display"/>
              </a:defRPr>
            </a:pPr>
            <a:r>
              <a:t>Proposed Training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875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3"/>
                </a:solidFill>
                <a:latin typeface="Aptos"/>
              </a:defRPr>
            </a:pPr>
            <a:r>
              <a:t>Online to offline transition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389888"/>
            <a:ext cx="1097280" cy="64008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45920"/>
            <a:ext cx="3246120" cy="141732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645920"/>
            <a:ext cx="731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10512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F48"/>
                </a:solidFill>
                <a:latin typeface="Aptos"/>
              </a:defRPr>
            </a:pPr>
            <a:r>
              <a:t>Pre-learning</a:t>
            </a:r>
          </a:p>
          <a:p>
            <a:pPr>
              <a:spcBef>
                <a:spcPts val="600"/>
              </a:spcBef>
              <a:defRPr sz="1400">
                <a:solidFill>
                  <a:srgbClr val="242A32"/>
                </a:solidFill>
                <a:latin typeface="Aptos"/>
              </a:defRPr>
            </a:pPr>
            <a:r>
              <a:t>10-15 min</a:t>
            </a:r>
            <a:br/>
            <a:r>
              <a:t>Basic concepts &amp; terminology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87952" y="2084831"/>
            <a:ext cx="502920" cy="320040"/>
          </a:xfrm>
          <a:prstGeom prst="rightArrow">
            <a:avLst/>
          </a:prstGeom>
          <a:solidFill>
            <a:srgbClr val="BE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645920"/>
            <a:ext cx="3246120" cy="1417320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645920"/>
            <a:ext cx="73152" cy="1417320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1810512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F48"/>
                </a:solidFill>
                <a:latin typeface="Aptos"/>
              </a:defRPr>
            </a:pPr>
            <a:r>
              <a:t>Offline workshop</a:t>
            </a:r>
          </a:p>
          <a:p>
            <a:pPr>
              <a:spcBef>
                <a:spcPts val="600"/>
              </a:spcBef>
              <a:defRPr sz="1400">
                <a:solidFill>
                  <a:srgbClr val="242A32"/>
                </a:solidFill>
                <a:latin typeface="Aptos"/>
              </a:defRPr>
            </a:pPr>
            <a:r>
              <a:t>60-90 min</a:t>
            </a:r>
            <a:br/>
            <a:r>
              <a:t>Demonstration, practice, cases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36992" y="2084831"/>
            <a:ext cx="502920" cy="320040"/>
          </a:xfrm>
          <a:prstGeom prst="rightArrow">
            <a:avLst/>
          </a:prstGeom>
          <a:solidFill>
            <a:srgbClr val="BE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59" y="1645920"/>
            <a:ext cx="3246120" cy="141732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E0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66759" y="1645920"/>
            <a:ext cx="73152" cy="1417320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59" y="1810512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F48"/>
                </a:solidFill>
                <a:latin typeface="Aptos"/>
              </a:defRPr>
            </a:pPr>
            <a:r>
              <a:t>Reflection</a:t>
            </a:r>
          </a:p>
          <a:p>
            <a:pPr>
              <a:spcBef>
                <a:spcPts val="600"/>
              </a:spcBef>
              <a:defRPr sz="1400">
                <a:solidFill>
                  <a:srgbClr val="242A32"/>
                </a:solidFill>
                <a:latin typeface="Aptos"/>
              </a:defRPr>
            </a:pPr>
            <a:r>
              <a:t>Quick takeaway</a:t>
            </a:r>
            <a:br/>
            <a:r>
              <a:t>Knowledge check &amp; next-step commitment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160520"/>
            <a:ext cx="2011680" cy="566928"/>
          </a:xfrm>
          <a:prstGeom prst="rect">
            <a:avLst/>
          </a:prstGeom>
          <a:solidFill>
            <a:srgbClr val="14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2511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20% Concept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160520"/>
            <a:ext cx="3017520" cy="5669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432511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30% Demonstration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160520"/>
            <a:ext cx="3017520" cy="566928"/>
          </a:xfrm>
          <a:prstGeom prst="rect">
            <a:avLst/>
          </a:prstGeom>
          <a:solidFill>
            <a:srgbClr val="EE8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432511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30% Practice &amp; case discussion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4160520"/>
            <a:ext cx="2011680" cy="566928"/>
          </a:xfrm>
          <a:prstGeom prst="rect">
            <a:avLst/>
          </a:prstGeom>
          <a:solidFill>
            <a:srgbClr val="4E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432511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20% Reflection &amp;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715000"/>
            <a:ext cx="10698480" cy="502920"/>
          </a:xfrm>
          <a:prstGeom prst="roundRect">
            <a:avLst/>
          </a:prstGeom>
          <a:solidFill>
            <a:srgbClr val="E0F3F0"/>
          </a:solidFill>
          <a:ln>
            <a:solidFill>
              <a:srgbClr val="EF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815584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F48"/>
                </a:solidFill>
                <a:latin typeface="Aptos"/>
              </a:defRPr>
            </a:pPr>
            <a:r>
              <a:t>Note: duration and balance can be refined after mentor/trainer feedback.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C96A0"/>
                </a:solidFill>
                <a:latin typeface="Aptos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&amp; AAC Redesign Proposal</dc:title>
  <dc:subject>From Online Learning to Interactive Practice</dc:subject>
  <dc:creator>Cursor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